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47A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8288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校园探索与智能导航模拟系统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2004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BBDEFB"/>
                </a:solidFill>
                <a:latin typeface="Microsoft YaHei"/>
              </a:defRPr>
            </a:pPr>
            <a:r>
              <a:t>CampusNavigator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0" y="4389120"/>
            <a:ext cx="5486400" cy="548640"/>
          </a:xfrm>
          <a:prstGeom prst="roundRect">
            <a:avLst/>
          </a:prstGeom>
          <a:solidFill>
            <a:srgbClr val="FFB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263238"/>
                </a:solidFill>
                <a:latin typeface="Microsoft YaHei"/>
              </a:defRPr>
            </a:pPr>
            <a:r>
              <a:t>C++ 程序设计课程设计 · 题目5 · Qt路线 · 三星难度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5303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BDEFB"/>
                </a:solidFill>
                <a:latin typeface="Microsoft YaHei"/>
              </a:defRPr>
            </a:pPr>
            <a:r>
              <a:t>姓名：________  学号：________  班级：________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565C0"/>
                </a:solidFill>
                <a:latin typeface="Microsoft YaHei"/>
              </a:defRPr>
            </a:pPr>
            <a:r>
              <a:t>项目概述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828800" cy="50800"/>
          </a:xfrm>
          <a:prstGeom prst="rect">
            <a:avLst/>
          </a:prstGeom>
          <a:solidFill>
            <a:srgbClr val="FFB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6400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63238"/>
                </a:solidFill>
                <a:latin typeface="Microsoft YaHei"/>
              </a:defRPr>
            </a:pPr>
            <a:r>
              <a:t>● 基于天津理工大学真实校园地图（1280×976底图）</a:t>
            </a:r>
          </a:p>
          <a:p>
            <a:pPr>
              <a:spcAft>
                <a:spcPts val="800"/>
              </a:spcAft>
              <a:defRPr sz="1800">
                <a:solidFill>
                  <a:srgbClr val="263238"/>
                </a:solidFill>
                <a:latin typeface="Microsoft YaHei"/>
              </a:defRPr>
            </a:pPr>
            <a:r>
              <a:t>● 25栋建筑 + 40条道路的拓扑网络</a:t>
            </a:r>
          </a:p>
          <a:p>
            <a:pPr>
              <a:spcAft>
                <a:spcPts val="800"/>
              </a:spcAft>
              <a:defRPr sz="1800">
                <a:solidFill>
                  <a:srgbClr val="263238"/>
                </a:solidFill>
                <a:latin typeface="Microsoft YaHei"/>
              </a:defRPr>
            </a:pPr>
            <a:r>
              <a:t>● C++17 + Qt 6.11 + CMake + MinGW + SQLite</a:t>
            </a:r>
          </a:p>
          <a:p>
            <a:pPr>
              <a:spcAft>
                <a:spcPts val="800"/>
              </a:spcAft>
              <a:defRPr sz="1800">
                <a:solidFill>
                  <a:srgbClr val="263238"/>
                </a:solidFill>
                <a:latin typeface="Microsoft YaHei"/>
              </a:defRPr>
            </a:pPr>
            <a:r>
              <a:t>● 三层架构：Model / Data / View</a:t>
            </a:r>
          </a:p>
          <a:p>
            <a:pPr>
              <a:spcAft>
                <a:spcPts val="800"/>
              </a:spcAft>
              <a:defRPr sz="1800">
                <a:solidFill>
                  <a:srgbClr val="263238"/>
                </a:solidFill>
                <a:latin typeface="Microsoft YaHei"/>
              </a:defRPr>
            </a:pPr>
            <a:r>
              <a:t>● ~3540行代码，16个头文件 + 15个源文件</a:t>
            </a:r>
          </a:p>
          <a:p>
            <a:pPr>
              <a:spcAft>
                <a:spcPts val="800"/>
              </a:spcAft>
              <a:defRPr sz="1800">
                <a:solidFill>
                  <a:srgbClr val="263238"/>
                </a:solidFill>
                <a:latin typeface="Microsoft YaHei"/>
              </a:defRPr>
            </a:pPr>
            <a:r>
              <a:t>● 4个定时器协作（30FPS动画系统）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0" y="1463040"/>
            <a:ext cx="3200400" cy="1005840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0" y="1554480"/>
            <a:ext cx="1097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565C0"/>
                </a:solidFill>
                <a:latin typeface="Microsoft YaHei"/>
              </a:defRPr>
            </a:pPr>
            <a:r>
              <a:t>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173736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63238"/>
                </a:solidFill>
                <a:latin typeface="Microsoft YaHei"/>
              </a:defRPr>
            </a:pPr>
            <a:r>
              <a:t>栋建筑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2651760"/>
            <a:ext cx="3200400" cy="1005840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0" y="2743200"/>
            <a:ext cx="1097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2E7D32"/>
                </a:solidFill>
                <a:latin typeface="Microsoft YaHei"/>
              </a:defRPr>
            </a:pPr>
            <a:r>
              <a:t>40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292608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63238"/>
                </a:solidFill>
                <a:latin typeface="Microsoft YaHei"/>
              </a:defRPr>
            </a:pPr>
            <a:r>
              <a:t>条道路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3840480"/>
            <a:ext cx="3200400" cy="1005840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0" y="3931920"/>
            <a:ext cx="1097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B74D"/>
                </a:solidFill>
                <a:latin typeface="Microsoft YaHei"/>
              </a:defRPr>
            </a:pPr>
            <a:r>
              <a:t>4+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411480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63238"/>
                </a:solidFill>
                <a:latin typeface="Microsoft YaHei"/>
              </a:defRPr>
            </a:pPr>
            <a:r>
              <a:t>扩展功能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5029200"/>
            <a:ext cx="3200400" cy="1005840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5120640"/>
            <a:ext cx="1097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C62828"/>
                </a:solidFill>
                <a:latin typeface="Microsoft YaHei"/>
              </a:defRPr>
            </a:pPr>
            <a:r>
              <a:t>4+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530352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63238"/>
                </a:solidFill>
                <a:latin typeface="Microsoft YaHei"/>
              </a:defRPr>
            </a:pPr>
            <a:r>
              <a:t>创新功能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565C0"/>
                </a:solidFill>
                <a:latin typeface="Microsoft YaHei"/>
              </a:defRPr>
            </a:pPr>
            <a:r>
              <a:t>系统架构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828800" cy="50800"/>
          </a:xfrm>
          <a:prstGeom prst="rect">
            <a:avLst/>
          </a:prstGeom>
          <a:solidFill>
            <a:srgbClr val="FFB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515600" cy="1554480"/>
          </a:xfrm>
          <a:prstGeom prst="roundRect">
            <a:avLst/>
          </a:prstGeom>
          <a:solidFill>
            <a:srgbClr val="FFCC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4630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63238"/>
                </a:solidFill>
                <a:latin typeface="Microsoft YaHei"/>
              </a:defRPr>
            </a:pPr>
            <a:r>
              <a:t>View Layer（视图层）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92024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63238"/>
                </a:solidFill>
                <a:latin typeface="Microsoft YaHei"/>
              </a:defRPr>
            </a:pPr>
            <a:r>
              <a:t>MainWindow · MapScene · BuildingItem · RoadItem</a:t>
            </a:r>
            <a:br/>
            <a:r>
              <a:t>CharacterItem · NpcItem · WeatherOverlay · AdminDialog</a:t>
            </a:r>
            <a:br/>
            <a:r>
              <a:t>UI布局 · 事件处理 · 定时器调度 · 角色移动 · NPC状态机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108960"/>
            <a:ext cx="10515600" cy="1554480"/>
          </a:xfrm>
          <a:prstGeom prst="roundRect">
            <a:avLst/>
          </a:prstGeom>
          <a:solidFill>
            <a:srgbClr val="A5D6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32004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63238"/>
                </a:solidFill>
                <a:latin typeface="Microsoft YaHei"/>
              </a:defRPr>
            </a:pPr>
            <a:r>
              <a:t>Model Layer（模型层）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65760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63238"/>
                </a:solidFill>
                <a:latin typeface="Microsoft YaHei"/>
              </a:defRPr>
            </a:pPr>
            <a:r>
              <a:t>Building · Edge · Graph</a:t>
            </a:r>
            <a:br/>
            <a:r>
              <a:t>邻接表存图 · Dijkstra算法</a:t>
            </a:r>
            <a:br/>
            <a:r>
              <a:t>25建筑 · 40道路 · 双向边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846320"/>
            <a:ext cx="10515600" cy="1554480"/>
          </a:xfrm>
          <a:prstGeom prst="roundRect">
            <a:avLst/>
          </a:prstGeom>
          <a:solidFill>
            <a:srgbClr val="90C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49377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63238"/>
                </a:solidFill>
                <a:latin typeface="Microsoft YaHei"/>
              </a:defRPr>
            </a:pPr>
            <a:r>
              <a:t>Data Layer（数据层）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539496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63238"/>
                </a:solidFill>
                <a:latin typeface="Microsoft YaHei"/>
              </a:defRPr>
            </a:pPr>
            <a:r>
              <a:t>CampusData · DatabaseManager</a:t>
            </a:r>
            <a:br/>
            <a:r>
              <a:t>SQLite CRUD · 单例模式</a:t>
            </a:r>
            <a:br/>
            <a:r>
              <a:t>种子数据 · 数据迁移 · 文本导入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565C0"/>
                </a:solidFill>
                <a:latin typeface="Microsoft YaHei"/>
              </a:defRPr>
            </a:pPr>
            <a:r>
              <a:t>基础功能（60%）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828800" cy="508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474720" cy="2194560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14400" y="1645920"/>
            <a:ext cx="548640" cy="54864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F01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6459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63238"/>
                </a:solidFill>
                <a:latin typeface="Microsoft YaHei"/>
              </a:defRPr>
            </a:pPr>
            <a:r>
              <a:t>校园地图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8600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57575"/>
                </a:solidFill>
                <a:latin typeface="Microsoft YaHei"/>
              </a:defRPr>
            </a:pPr>
            <a:r>
              <a:t>25栋建筑 + 40条道路</a:t>
            </a:r>
            <a:br/>
            <a:r>
              <a:t>基于真实校园底图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463040"/>
            <a:ext cx="3474720" cy="2194560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663439" y="1645920"/>
            <a:ext cx="548640" cy="548640"/>
          </a:xfrm>
          <a:prstGeom prst="ellipse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39" y="16916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F02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19" y="16459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63238"/>
                </a:solidFill>
                <a:latin typeface="Microsoft YaHei"/>
              </a:defRPr>
            </a:pPr>
            <a:r>
              <a:t>路径规划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39" y="228600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57575"/>
                </a:solidFill>
                <a:latin typeface="Microsoft YaHei"/>
              </a:defRPr>
            </a:pPr>
            <a:r>
              <a:t>Dijkstra最短路径算法</a:t>
            </a:r>
            <a:br/>
            <a:r>
              <a:t>红色高亮路线显示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463040"/>
            <a:ext cx="3474720" cy="2194560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412480" y="1645920"/>
            <a:ext cx="548640" cy="548640"/>
          </a:xfrm>
          <a:prstGeom prst="ellipse">
            <a:avLst/>
          </a:prstGeom>
          <a:solidFill>
            <a:srgbClr val="FFB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16916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F03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0" y="16459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63238"/>
                </a:solidFill>
                <a:latin typeface="Microsoft YaHei"/>
              </a:defRPr>
            </a:pPr>
            <a:r>
              <a:t>角色控制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228600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57575"/>
                </a:solidFill>
                <a:latin typeface="Microsoft YaHei"/>
              </a:defRPr>
            </a:pPr>
            <a:r>
              <a:t>WASD键盘控制</a:t>
            </a:r>
            <a:br/>
            <a:r>
              <a:t>4方向精细行走动画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931920"/>
            <a:ext cx="3474720" cy="2194560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14400" y="4114800"/>
            <a:ext cx="548640" cy="548640"/>
          </a:xfrm>
          <a:prstGeom prst="ellipse">
            <a:avLst/>
          </a:prstGeom>
          <a:solidFill>
            <a:srgbClr val="AB4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1605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F04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411480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63238"/>
                </a:solidFill>
                <a:latin typeface="Microsoft YaHei"/>
              </a:defRPr>
            </a:pPr>
            <a:r>
              <a:t>建筑查询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75488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57575"/>
                </a:solidFill>
                <a:latin typeface="Microsoft YaHei"/>
              </a:defRPr>
            </a:pPr>
            <a:r>
              <a:t>SQLite存储信息</a:t>
            </a:r>
            <a:br/>
            <a:r>
              <a:t>点击查看详情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80559" y="3931920"/>
            <a:ext cx="3474720" cy="2194560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663439" y="4114800"/>
            <a:ext cx="548640" cy="548640"/>
          </a:xfrm>
          <a:prstGeom prst="ellipse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63439" y="41605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F05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19" y="411480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63238"/>
                </a:solidFill>
                <a:latin typeface="Microsoft YaHei"/>
              </a:defRPr>
            </a:pPr>
            <a:r>
              <a:t>数据持久化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63439" y="475488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57575"/>
                </a:solidFill>
                <a:latin typeface="Microsoft YaHei"/>
              </a:defRPr>
            </a:pPr>
            <a:r>
              <a:t>建筑+道路CRUD</a:t>
            </a:r>
            <a:br/>
            <a:r>
              <a:t>管理员后台管理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600" y="3931920"/>
            <a:ext cx="3474720" cy="2194560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412480" y="4114800"/>
            <a:ext cx="548640" cy="548640"/>
          </a:xfrm>
          <a:prstGeom prst="ellipse">
            <a:avLst/>
          </a:prstGeom>
          <a:solidFill>
            <a:srgbClr val="008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12480" y="41605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F06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52560" y="411480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63238"/>
                </a:solidFill>
                <a:latin typeface="Microsoft YaHei"/>
              </a:defRPr>
            </a:pPr>
            <a:r>
              <a:t>自动导航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0" y="475488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57575"/>
                </a:solidFill>
                <a:latin typeface="Microsoft YaHei"/>
              </a:defRPr>
            </a:pPr>
            <a:r>
              <a:t>沿路径自动行走</a:t>
            </a:r>
            <a:br/>
            <a:r>
              <a:t>随时可WASD中断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565C0"/>
                </a:solidFill>
                <a:latin typeface="Microsoft YaHei"/>
              </a:defRPr>
            </a:pPr>
            <a:r>
              <a:t>扩展功能（25%） · 完成4项（三星要求3项+）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828800" cy="50800"/>
          </a:xfrm>
          <a:prstGeom prst="rect">
            <a:avLst/>
          </a:prstGeom>
          <a:solidFill>
            <a:srgbClr val="FFB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515600" cy="1097280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1508760"/>
            <a:ext cx="914400" cy="731520"/>
          </a:xfrm>
          <a:prstGeom prst="roundRect">
            <a:avLst/>
          </a:prstGeom>
          <a:solidFill>
            <a:srgbClr val="FFB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63238"/>
                </a:solidFill>
                <a:latin typeface="Microsoft YaHei"/>
              </a:defRPr>
            </a:pPr>
            <a:r>
              <a:t>E01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146304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63238"/>
                </a:solidFill>
                <a:latin typeface="Microsoft YaHei"/>
              </a:defRPr>
            </a:pPr>
            <a:r>
              <a:t>昼夜系统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1463040"/>
            <a:ext cx="5943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57575"/>
                </a:solidFill>
                <a:latin typeface="Microsoft YaHei"/>
              </a:defRPr>
            </a:pPr>
            <a:r>
              <a:t>白天/夜间一键切换</a:t>
            </a:r>
            <a:br/>
            <a:r>
              <a:t>深蓝遮罩+迷你地图配色同步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651760"/>
            <a:ext cx="10515600" cy="1097280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14400" y="2788920"/>
            <a:ext cx="914400" cy="731520"/>
          </a:xfrm>
          <a:prstGeom prst="roundRect">
            <a:avLst/>
          </a:prstGeom>
          <a:solidFill>
            <a:srgbClr val="FFB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88036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63238"/>
                </a:solidFill>
                <a:latin typeface="Microsoft YaHei"/>
              </a:defRPr>
            </a:pPr>
            <a:r>
              <a:t>E02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274320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63238"/>
                </a:solidFill>
                <a:latin typeface="Microsoft YaHei"/>
              </a:defRPr>
            </a:pPr>
            <a:r>
              <a:t>天气模拟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2743200"/>
            <a:ext cx="5943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57575"/>
                </a:solidFill>
                <a:latin typeface="Microsoft YaHei"/>
              </a:defRPr>
            </a:pPr>
            <a:r>
              <a:t>雨/雪/高温/大风四态循环</a:t>
            </a:r>
            <a:br/>
            <a:r>
              <a:t>150雨滴+80雪花粒子系统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931920"/>
            <a:ext cx="10515600" cy="1097280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14400" y="4069080"/>
            <a:ext cx="914400" cy="731520"/>
          </a:xfrm>
          <a:prstGeom prst="roundRect">
            <a:avLst/>
          </a:prstGeom>
          <a:solidFill>
            <a:srgbClr val="FFB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16052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63238"/>
                </a:solidFill>
                <a:latin typeface="Microsoft YaHei"/>
              </a:defRPr>
            </a:pPr>
            <a:r>
              <a:t>E03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20" y="402336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63238"/>
                </a:solidFill>
                <a:latin typeface="Microsoft YaHei"/>
              </a:defRPr>
            </a:pPr>
            <a:r>
              <a:t>NPC系统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4023360"/>
            <a:ext cx="5943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57575"/>
                </a:solidFill>
                <a:latin typeface="Microsoft YaHei"/>
              </a:defRPr>
            </a:pPr>
            <a:r>
              <a:t>自主移动NPC（学生/教师）</a:t>
            </a:r>
            <a:br/>
            <a:r>
              <a:t>状态机+邻接表寻路+对话交互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212079"/>
            <a:ext cx="10515600" cy="1097280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14400" y="5349239"/>
            <a:ext cx="914400" cy="731520"/>
          </a:xfrm>
          <a:prstGeom prst="roundRect">
            <a:avLst/>
          </a:prstGeom>
          <a:solidFill>
            <a:srgbClr val="FFB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5440679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63238"/>
                </a:solidFill>
                <a:latin typeface="Microsoft YaHei"/>
              </a:defRPr>
            </a:pPr>
            <a:r>
              <a:t>E04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03120" y="5303519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63238"/>
                </a:solidFill>
                <a:latin typeface="Microsoft YaHei"/>
              </a:defRPr>
            </a:pPr>
            <a:r>
              <a:t>迷你地图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5303519"/>
            <a:ext cx="5943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57575"/>
                </a:solidFill>
                <a:latin typeface="Microsoft YaHei"/>
              </a:defRPr>
            </a:pPr>
            <a:r>
              <a:t>右上角180×140小地图</a:t>
            </a:r>
            <a:br/>
            <a:r>
              <a:t>实时显示角色位置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创新功能（15%）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828800" cy="50800"/>
          </a:xfrm>
          <a:prstGeom prst="rect">
            <a:avLst/>
          </a:prstGeom>
          <a:solidFill>
            <a:srgbClr val="FFB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474720" cy="2286000"/>
          </a:xfrm>
          <a:prstGeom prst="roundRect">
            <a:avLst/>
          </a:prstGeom>
          <a:solidFill>
            <a:srgbClr val="303F9F"/>
          </a:solidFill>
          <a:ln w="19050">
            <a:solidFill>
              <a:srgbClr val="FFB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B74D"/>
                </a:solidFill>
                <a:latin typeface="Microsoft YaHei"/>
              </a:defRPr>
            </a:pPr>
            <a:r>
              <a:t>I01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4630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新生引导模式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31089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DEFB"/>
                </a:solidFill>
                <a:latin typeface="Microsoft YaHei"/>
              </a:defRPr>
            </a:pPr>
            <a:r>
              <a:t>高亮报到点/宿舍/校医院</a:t>
            </a:r>
            <a:br/>
            <a:r>
              <a:t>途经宿舍自动弹窗提示</a:t>
            </a:r>
            <a:br/>
            <a:r>
              <a:t>开学6点多终点路线规划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59" y="1371600"/>
            <a:ext cx="3474720" cy="2286000"/>
          </a:xfrm>
          <a:prstGeom prst="roundRect">
            <a:avLst/>
          </a:prstGeom>
          <a:solidFill>
            <a:srgbClr val="303F9F"/>
          </a:solidFill>
          <a:ln w="19050">
            <a:solidFill>
              <a:srgbClr val="FFB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39" y="146304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B74D"/>
                </a:solidFill>
                <a:latin typeface="Microsoft YaHei"/>
              </a:defRPr>
            </a:pPr>
            <a:r>
              <a:t>I02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94959" y="14630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访客导览模式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39" y="2011680"/>
            <a:ext cx="31089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DEFB"/>
                </a:solidFill>
                <a:latin typeface="Microsoft YaHei"/>
              </a:defRPr>
            </a:pPr>
            <a:r>
              <a:t>隐藏私密建筑(宿舍/实验室)</a:t>
            </a:r>
            <a:br/>
            <a:r>
              <a:t>高亮旅游景点(湖/钟楼/广场)</a:t>
            </a:r>
            <a:br/>
            <a:r>
              <a:t>7点导览路线+时间估算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371600"/>
            <a:ext cx="3474720" cy="2286000"/>
          </a:xfrm>
          <a:prstGeom prst="roundRect">
            <a:avLst/>
          </a:prstGeom>
          <a:solidFill>
            <a:srgbClr val="303F9F"/>
          </a:solidFill>
          <a:ln w="19050">
            <a:solidFill>
              <a:srgbClr val="FFB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146304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B74D"/>
                </a:solidFill>
                <a:latin typeface="Microsoft YaHei"/>
              </a:defRPr>
            </a:pPr>
            <a:r>
              <a:t>I03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0" y="14630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NPC自主移动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2011680"/>
            <a:ext cx="31089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DEFB"/>
                </a:solidFill>
                <a:latin typeface="Microsoft YaHei"/>
              </a:defRPr>
            </a:pPr>
            <a:r>
              <a:t>状态机(Idle→Walking→Idle)</a:t>
            </a:r>
            <a:br/>
            <a:r>
              <a:t>邻接表随机选邻居为目标</a:t>
            </a:r>
            <a:br/>
            <a:r>
              <a:t>4方向行走动画+对话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931920"/>
            <a:ext cx="3474720" cy="2286000"/>
          </a:xfrm>
          <a:prstGeom prst="roundRect">
            <a:avLst/>
          </a:prstGeom>
          <a:solidFill>
            <a:srgbClr val="303F9F"/>
          </a:solidFill>
          <a:ln w="19050">
            <a:solidFill>
              <a:srgbClr val="FFB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0233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B74D"/>
                </a:solidFill>
                <a:latin typeface="Microsoft YaHei"/>
              </a:defRPr>
            </a:pPr>
            <a:r>
              <a:t>I04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40233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精细角色精灵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572000"/>
            <a:ext cx="31089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DEFB"/>
                </a:solidFill>
                <a:latin typeface="Microsoft YaHei"/>
              </a:defRPr>
            </a:pPr>
            <a:r>
              <a:t>头部(头发/眉毛/眼/鼻/嘴)</a:t>
            </a:r>
            <a:br/>
            <a:r>
              <a:t>身体(渐变衬衫/领口/纽扣)</a:t>
            </a:r>
            <a:br/>
            <a:r>
              <a:t>摆臂+交替腿4帧动画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565C0"/>
                </a:solidFill>
                <a:latin typeface="Microsoft YaHei"/>
              </a:defRPr>
            </a:pPr>
            <a:r>
              <a:t>核心算法：Dijkstra最短路径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828800" cy="508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565C0"/>
                </a:solidFill>
                <a:latin typeface="Microsoft YaHei"/>
              </a:defRPr>
            </a:pPr>
            <a:r>
              <a:t>标准 Dijkstra 算法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63238"/>
                </a:solidFill>
                <a:latin typeface="Microsoft YaHei"/>
              </a:defRPr>
            </a:pPr>
            <a:r>
              <a:t>● 邻接表存图（unordered_map + vector&lt;Edge&gt;）</a:t>
            </a:r>
          </a:p>
          <a:p>
            <a:pPr>
              <a:spcAft>
                <a:spcPts val="800"/>
              </a:spcAft>
              <a:defRPr sz="1600">
                <a:solidFill>
                  <a:srgbClr val="263238"/>
                </a:solidFill>
                <a:latin typeface="Microsoft YaHei"/>
              </a:defRPr>
            </a:pPr>
            <a:r>
              <a:t>● 优先队列（min-heap）+ visited 去重</a:t>
            </a:r>
          </a:p>
          <a:p>
            <a:pPr>
              <a:spcAft>
                <a:spcPts val="800"/>
              </a:spcAft>
              <a:defRPr sz="1600">
                <a:solidFill>
                  <a:srgbClr val="263238"/>
                </a:solidFill>
                <a:latin typeface="Microsoft YaHei"/>
              </a:defRPr>
            </a:pPr>
            <a:r>
              <a:t>● C++17 结构化绑定：auto [d, u] = pq.top()</a:t>
            </a:r>
          </a:p>
          <a:p>
            <a:pPr>
              <a:spcAft>
                <a:spcPts val="800"/>
              </a:spcAft>
              <a:defRPr sz="1600">
                <a:solidFill>
                  <a:srgbClr val="263238"/>
                </a:solidFill>
                <a:latin typeface="Microsoft YaHei"/>
              </a:defRPr>
            </a:pPr>
            <a:r>
              <a:t>● 提前终止：if (u == endId) break</a:t>
            </a:r>
          </a:p>
          <a:p>
            <a:pPr>
              <a:spcAft>
                <a:spcPts val="800"/>
              </a:spcAft>
              <a:defRPr sz="1600">
                <a:solidFill>
                  <a:srgbClr val="263238"/>
                </a:solidFill>
                <a:latin typeface="Microsoft YaHei"/>
              </a:defRPr>
            </a:pPr>
            <a:r>
              <a:t>● 懒惰删除：冗余条目靠 visited 跳过</a:t>
            </a:r>
          </a:p>
          <a:p>
            <a:pPr>
              <a:spcAft>
                <a:spcPts val="800"/>
              </a:spcAft>
              <a:defRPr sz="1600">
                <a:solidFill>
                  <a:srgbClr val="263238"/>
                </a:solidFill>
                <a:latin typeface="Microsoft YaHei"/>
              </a:defRPr>
            </a:pPr>
            <a:r>
              <a:t>● 复杂度：O((V+E)logV) ≈ O(65×5) &lt; 0.1ms</a:t>
            </a:r>
          </a:p>
          <a:p>
            <a:pPr>
              <a:spcAft>
                <a:spcPts val="800"/>
              </a:spcAft>
              <a:defRPr sz="1600">
                <a:solidFill>
                  <a:srgbClr val="263238"/>
                </a:solidFill>
                <a:latin typeface="Microsoft YaHei"/>
              </a:defRPr>
            </a:pPr>
            <a:r>
              <a:t>● 路径回溯：prev[] + std::reverse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565C0"/>
                </a:solidFill>
                <a:latin typeface="Microsoft YaHei"/>
              </a:defRPr>
            </a:pPr>
            <a:r>
              <a:t>算法优化与复杂度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92024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63238"/>
                </a:solidFill>
                <a:latin typeface="Microsoft YaHei"/>
              </a:defRPr>
            </a:pPr>
            <a:r>
              <a:t>● 提前终止：到达终点立即break</a:t>
            </a:r>
          </a:p>
          <a:p>
            <a:pPr>
              <a:spcAft>
                <a:spcPts val="800"/>
              </a:spcAft>
              <a:defRPr sz="1600">
                <a:solidFill>
                  <a:srgbClr val="263238"/>
                </a:solidFill>
                <a:latin typeface="Microsoft YaHei"/>
              </a:defRPr>
            </a:pPr>
            <a:r>
              <a:t>● 懒惰删除：visited数组跳过冗余</a:t>
            </a:r>
          </a:p>
          <a:p>
            <a:pPr>
              <a:spcAft>
                <a:spcPts val="800"/>
              </a:spcAft>
              <a:defRPr sz="1600">
                <a:solidFill>
                  <a:srgbClr val="263238"/>
                </a:solidFill>
                <a:latin typeface="Microsoft YaHei"/>
              </a:defRPr>
            </a:pPr>
            <a:r>
              <a:t>● C++17 try_emplace：零额外拷贝</a:t>
            </a:r>
          </a:p>
          <a:p>
            <a:pPr>
              <a:spcAft>
                <a:spcPts val="800"/>
              </a:spcAft>
              <a:defRPr sz="1600">
                <a:solidFill>
                  <a:srgbClr val="263238"/>
                </a:solidFill>
                <a:latin typeface="Microsoft YaHei"/>
              </a:defRPr>
            </a:pPr>
            <a:r>
              <a:t>● std::move：避免深拷贝开销</a:t>
            </a:r>
          </a:p>
          <a:p>
            <a:pPr>
              <a:spcAft>
                <a:spcPts val="800"/>
              </a:spcAft>
              <a:defRPr sz="1600">
                <a:solidFill>
                  <a:srgbClr val="263238"/>
                </a:solidFill>
                <a:latin typeface="Microsoft YaHe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263238"/>
                </a:solidFill>
                <a:latin typeface="Microsoft YaHei"/>
              </a:defRPr>
            </a:pPr>
            <a:r>
              <a:t>时间复杂度：O((V+E)logV)</a:t>
            </a:r>
          </a:p>
          <a:p>
            <a:pPr>
              <a:spcAft>
                <a:spcPts val="800"/>
              </a:spcAft>
              <a:defRPr sz="1600">
                <a:solidFill>
                  <a:srgbClr val="263238"/>
                </a:solidFill>
                <a:latin typeface="Microsoft YaHei"/>
              </a:defRPr>
            </a:pPr>
            <a:r>
              <a:t>空间复杂度：O(V+E)</a:t>
            </a:r>
          </a:p>
          <a:p>
            <a:pPr>
              <a:spcAft>
                <a:spcPts val="800"/>
              </a:spcAft>
              <a:defRPr sz="1600">
                <a:solidFill>
                  <a:srgbClr val="263238"/>
                </a:solidFill>
                <a:latin typeface="Microsoft YaHei"/>
              </a:defRPr>
            </a:pPr>
            <a:r>
              <a:t>V=25, E=40 → &lt;0.1ms</a:t>
            </a:r>
          </a:p>
          <a:p>
            <a:pPr>
              <a:spcAft>
                <a:spcPts val="800"/>
              </a:spcAft>
              <a:defRPr sz="1600">
                <a:solidFill>
                  <a:srgbClr val="263238"/>
                </a:solidFill>
                <a:latin typeface="Microsoft YaHe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263238"/>
                </a:solidFill>
                <a:latin typeface="Microsoft YaHei"/>
              </a:defRPr>
            </a:pPr>
            <a:r>
              <a:t>进一步优化方向：</a:t>
            </a:r>
          </a:p>
          <a:p>
            <a:pPr>
              <a:spcAft>
                <a:spcPts val="800"/>
              </a:spcAft>
              <a:defRPr sz="1600">
                <a:solidFill>
                  <a:srgbClr val="263238"/>
                </a:solidFill>
                <a:latin typeface="Microsoft YaHei"/>
              </a:defRPr>
            </a:pPr>
            <a:r>
              <a:t>● A*启发式搜索</a:t>
            </a:r>
          </a:p>
          <a:p>
            <a:pPr>
              <a:spcAft>
                <a:spcPts val="800"/>
              </a:spcAft>
              <a:defRPr sz="1600">
                <a:solidFill>
                  <a:srgbClr val="263238"/>
                </a:solidFill>
                <a:latin typeface="Microsoft YaHei"/>
              </a:defRPr>
            </a:pPr>
            <a:r>
              <a:t>● 双向Dijkstra</a:t>
            </a:r>
          </a:p>
          <a:p>
            <a:pPr>
              <a:spcAft>
                <a:spcPts val="800"/>
              </a:spcAft>
              <a:defRPr sz="1600">
                <a:solidFill>
                  <a:srgbClr val="263238"/>
                </a:solidFill>
                <a:latin typeface="Microsoft YaHei"/>
              </a:defRPr>
            </a:pPr>
            <a:r>
              <a:t>● 斐波那契堆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565C0"/>
                </a:solidFill>
                <a:latin typeface="Microsoft YaHei"/>
              </a:defRPr>
            </a:pPr>
            <a:r>
              <a:t>NPC 自主移动系统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828800" cy="50800"/>
          </a:xfrm>
          <a:prstGeom prst="rect">
            <a:avLst/>
          </a:prstGeom>
          <a:solidFill>
            <a:srgbClr val="AB4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463040"/>
            <a:ext cx="2926080" cy="1097280"/>
          </a:xfrm>
          <a:prstGeom prst="roundRect">
            <a:avLst/>
          </a:prstGeom>
          <a:solidFill>
            <a:srgbClr val="FFE0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55448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63238"/>
                </a:solidFill>
                <a:latin typeface="Microsoft YaHei"/>
              </a:defRPr>
            </a:pPr>
            <a:r>
              <a:t>Idle</a:t>
            </a:r>
            <a:br/>
            <a:r>
              <a:t>(等待)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840480" y="1737360"/>
            <a:ext cx="640080" cy="548640"/>
          </a:xfrm>
          <a:prstGeom prst="rightArrow">
            <a:avLst/>
          </a:prstGeom>
          <a:solidFill>
            <a:srgbClr val="FFB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0" y="1463040"/>
            <a:ext cx="2926080" cy="1097280"/>
          </a:xfrm>
          <a:prstGeom prst="roundRect">
            <a:avLst/>
          </a:prstGeom>
          <a:solidFill>
            <a:srgbClr val="CE9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0" y="155448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63238"/>
                </a:solidFill>
                <a:latin typeface="Microsoft YaHei"/>
              </a:defRPr>
            </a:pPr>
            <a:r>
              <a:t>pickNewTarget()</a:t>
            </a:r>
            <a:br/>
            <a:r>
              <a:t>邻接表随机选邻居</a:t>
            </a:r>
          </a:p>
        </p:txBody>
      </p:sp>
      <p:sp>
        <p:nvSpPr>
          <p:cNvPr id="9" name="Right Arrow 8"/>
          <p:cNvSpPr/>
          <p:nvPr/>
        </p:nvSpPr>
        <p:spPr>
          <a:xfrm>
            <a:off x="7498080" y="1737360"/>
            <a:ext cx="640080" cy="548640"/>
          </a:xfrm>
          <a:prstGeom prst="rightArrow">
            <a:avLst/>
          </a:prstGeom>
          <a:solidFill>
            <a:srgbClr val="FFB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229600" y="1463040"/>
            <a:ext cx="2926080" cy="1097280"/>
          </a:xfrm>
          <a:prstGeom prst="roundRect">
            <a:avLst/>
          </a:prstGeom>
          <a:solidFill>
            <a:srgbClr val="B3E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0" y="155448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63238"/>
                </a:solidFill>
                <a:latin typeface="Microsoft YaHei"/>
              </a:defRPr>
            </a:pPr>
            <a:r>
              <a:t>Walking</a:t>
            </a:r>
            <a:br/>
            <a:r>
              <a:t>(移动中)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017520"/>
            <a:ext cx="5486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63238"/>
                </a:solidFill>
                <a:latin typeface="Microsoft YaHei"/>
              </a:defRPr>
            </a:pPr>
            <a:r>
              <a:t>● 状态机：Idle(20~80帧) → Walking → Idle</a:t>
            </a:r>
          </a:p>
          <a:p>
            <a:pPr>
              <a:spcAft>
                <a:spcPts val="800"/>
              </a:spcAft>
              <a:defRPr sz="1600">
                <a:solidFill>
                  <a:srgbClr val="263238"/>
                </a:solidFill>
                <a:latin typeface="Microsoft YaHei"/>
              </a:defRPr>
            </a:pPr>
            <a:r>
              <a:t>● pickNewTarget：graph_-&gt;neighbors(homeId) 随机选一</a:t>
            </a:r>
          </a:p>
          <a:p>
            <a:pPr>
              <a:spcAft>
                <a:spcPts val="800"/>
              </a:spcAft>
              <a:defRPr sz="1600">
                <a:solidFill>
                  <a:srgbClr val="263238"/>
                </a:solidFill>
                <a:latin typeface="Microsoft YaHei"/>
              </a:defRPr>
            </a:pPr>
            <a:r>
              <a:t>● 移动速度 2.0px/帧，目标位置±15px随机偏移</a:t>
            </a:r>
          </a:p>
          <a:p>
            <a:pPr>
              <a:spcAft>
                <a:spcPts val="800"/>
              </a:spcAft>
              <a:defRPr sz="1600">
                <a:solidFill>
                  <a:srgbClr val="263238"/>
                </a:solidFill>
                <a:latin typeface="Microsoft YaHei"/>
              </a:defRPr>
            </a:pPr>
            <a:r>
              <a:t>● 4方向动画：交替腿 + 摆臂，每3帧推进</a:t>
            </a:r>
          </a:p>
          <a:p>
            <a:pPr>
              <a:spcAft>
                <a:spcPts val="800"/>
              </a:spcAft>
              <a:defRPr sz="1600">
                <a:solidFill>
                  <a:srgbClr val="263238"/>
                </a:solidFill>
                <a:latin typeface="Microsoft YaHei"/>
              </a:defRPr>
            </a:pPr>
            <a:r>
              <a:t>● 5种服装：红/绿/紫/橙/粉（学生/教师等）</a:t>
            </a:r>
          </a:p>
          <a:p>
            <a:pPr>
              <a:spcAft>
                <a:spcPts val="800"/>
              </a:spcAft>
              <a:defRPr sz="1600">
                <a:solidFill>
                  <a:srgbClr val="263238"/>
                </a:solidFill>
                <a:latin typeface="Microsoft YaHei"/>
              </a:defRPr>
            </a:pPr>
            <a:r>
              <a:t>● 点击弹对话气泡（QMessageBox）</a:t>
            </a:r>
          </a:p>
          <a:p>
            <a:pPr>
              <a:spcAft>
                <a:spcPts val="800"/>
              </a:spcAft>
              <a:defRPr sz="1600">
                <a:solidFill>
                  <a:srgbClr val="263238"/>
                </a:solidFill>
                <a:latin typeface="Microsoft YaHei"/>
              </a:defRPr>
            </a:pPr>
            <a:r>
              <a:t>● Z=9，在角色之下建筑之上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30175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B74D"/>
                </a:solidFill>
                <a:latin typeface="Microsoft YaHei"/>
              </a:defRPr>
            </a:pPr>
            <a:r>
              <a:t>当前配置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0" y="3566160"/>
            <a:ext cx="4572000" cy="1280160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40880" y="3657600"/>
            <a:ext cx="4206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63238"/>
                </a:solidFill>
                <a:latin typeface="Microsoft YaHei"/>
              </a:defRPr>
            </a:pPr>
            <a:r>
              <a:t>图书管理员（紫色）</a:t>
            </a:r>
            <a:br/>
            <a:r>
              <a:t>  位置：图书馆附近</a:t>
            </a:r>
            <a:br/>
            <a:r>
              <a:t>  对话：图书馆使用技巧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0" y="5029200"/>
            <a:ext cx="4572000" cy="1280160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0" y="5120640"/>
            <a:ext cx="4206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63238"/>
                </a:solidFill>
                <a:latin typeface="Microsoft YaHei"/>
              </a:defRPr>
            </a:pPr>
            <a:r>
              <a:t>计算机学院学长（红色）</a:t>
            </a:r>
            <a:br/>
            <a:r>
              <a:t>  位置：计算机学院附近</a:t>
            </a:r>
            <a:br/>
            <a:r>
              <a:t>  对话：选课建议和编程技巧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565C0"/>
                </a:solidFill>
                <a:latin typeface="Microsoft YaHei"/>
              </a:defRPr>
            </a:pPr>
            <a:r>
              <a:t>测试与结果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828800" cy="508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2E7D32"/>
                </a:solidFill>
                <a:latin typeface="Microsoft YaHei"/>
              </a:defRPr>
            </a:pPr>
            <a:r>
              <a:t>28/28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757575"/>
                </a:solidFill>
                <a:latin typeface="Microsoft YaHei"/>
              </a:defRPr>
            </a:pPr>
            <a:r>
              <a:t>功能测试全部通过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54880" y="1371600"/>
            <a:ext cx="3200400" cy="1371600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37760" y="14630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7D32"/>
                </a:solidFill>
                <a:latin typeface="Microsoft YaHei"/>
              </a:defRPr>
            </a:pPr>
            <a:r>
              <a:t>基础功能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0" y="146304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7D32"/>
                </a:solidFill>
                <a:latin typeface="Microsoft YaHei"/>
              </a:defRPr>
            </a:pPr>
            <a:r>
              <a:t>6/6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1874520"/>
            <a:ext cx="2834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57575"/>
                </a:solidFill>
                <a:latin typeface="Microsoft YaHei"/>
              </a:defRPr>
            </a:pPr>
            <a:r>
              <a:t>地图/路径/角色/查询/数据库/导航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371600"/>
            <a:ext cx="3200400" cy="1371600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0" y="14630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B74D"/>
                </a:solidFill>
                <a:latin typeface="Microsoft YaHei"/>
              </a:defRPr>
            </a:pPr>
            <a:r>
              <a:t>扩展功能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146304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7D32"/>
                </a:solidFill>
                <a:latin typeface="Microsoft YaHei"/>
              </a:defRPr>
            </a:pPr>
            <a:r>
              <a:t>4/4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1874520"/>
            <a:ext cx="2834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57575"/>
                </a:solidFill>
                <a:latin typeface="Microsoft YaHei"/>
              </a:defRPr>
            </a:pPr>
            <a:r>
              <a:t>昼夜/天气/NPC/迷你地图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54880" y="2926080"/>
            <a:ext cx="3200400" cy="1371600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37760" y="30175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62828"/>
                </a:solidFill>
                <a:latin typeface="Microsoft YaHei"/>
              </a:defRPr>
            </a:pPr>
            <a:r>
              <a:t>创新功能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30175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7D32"/>
                </a:solidFill>
                <a:latin typeface="Microsoft YaHei"/>
              </a:defRPr>
            </a:pPr>
            <a:r>
              <a:t>4/4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0" y="3429000"/>
            <a:ext cx="2834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57575"/>
                </a:solidFill>
                <a:latin typeface="Microsoft YaHei"/>
              </a:defRPr>
            </a:pPr>
            <a:r>
              <a:t>新生/访客/NPC移动/精灵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0" y="2926080"/>
            <a:ext cx="3200400" cy="1371600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0" y="30175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565C0"/>
                </a:solidFill>
                <a:latin typeface="Microsoft YaHei"/>
              </a:defRPr>
            </a:pPr>
            <a:r>
              <a:t>边界情况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0" y="30175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7D32"/>
                </a:solidFill>
                <a:latin typeface="Microsoft YaHei"/>
              </a:defRPr>
            </a:pPr>
            <a:r>
              <a:t>6/6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3429000"/>
            <a:ext cx="2834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57575"/>
                </a:solidFill>
                <a:latin typeface="Microsoft YaHei"/>
              </a:defRPr>
            </a:pPr>
            <a:r>
              <a:t>空选点/同建筑/快速按键/缩放/首次启动/数据迁移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0" y="4480560"/>
            <a:ext cx="3200400" cy="1371600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937760" y="45720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B47BC"/>
                </a:solidFill>
                <a:latin typeface="Microsoft YaHei"/>
              </a:defRPr>
            </a:pPr>
            <a:r>
              <a:t>防卡键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45720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7D32"/>
                </a:solidFill>
                <a:latin typeface="Microsoft YaHei"/>
              </a:defRPr>
            </a:pPr>
            <a:r>
              <a:t>1/1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37760" y="4983480"/>
            <a:ext cx="2834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57575"/>
                </a:solidFill>
                <a:latin typeface="Microsoft YaHei"/>
              </a:defRPr>
            </a:pPr>
            <a:r>
              <a:t>模态对话框防keyRelease丢失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0" y="4480560"/>
            <a:ext cx="3200400" cy="1371600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12480" y="45720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8388"/>
                </a:solidFill>
                <a:latin typeface="Microsoft YaHei"/>
              </a:defRPr>
            </a:pPr>
            <a:r>
              <a:t>缩放拖拽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0" y="45720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7D32"/>
                </a:solidFill>
                <a:latin typeface="Microsoft YaHei"/>
              </a:defRPr>
            </a:pPr>
            <a:r>
              <a:t>2/2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4983480"/>
            <a:ext cx="2834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57575"/>
                </a:solidFill>
                <a:latin typeface="Microsoft YaHei"/>
              </a:defRPr>
            </a:pPr>
            <a:r>
              <a:t>滚轮缩放/拖拽平移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565C0"/>
                </a:solidFill>
                <a:latin typeface="Microsoft YaHei"/>
              </a:defRPr>
            </a:pPr>
            <a:r>
              <a:t>开发中的关键问题与解决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828800" cy="508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515600" cy="731520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62828"/>
                </a:solidFill>
                <a:latin typeface="Microsoft YaHei"/>
              </a:defRPr>
            </a:pPr>
            <a:r>
              <a:t>角色卡键不停移动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0" y="141732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57575"/>
                </a:solidFill>
                <a:latin typeface="Microsoft YaHei"/>
              </a:defRPr>
            </a:pPr>
            <a:r>
              <a:t>模态对话框截获keyReleaseEvent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0" y="1417320"/>
            <a:ext cx="3931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E7D32"/>
                </a:solidFill>
                <a:latin typeface="Microsoft YaHei"/>
              </a:defRPr>
            </a:pPr>
            <a:r>
              <a:t>→ onCharacterTimer检查activeModalWidget，清除移动标志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240280"/>
            <a:ext cx="10515600" cy="731520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28600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62828"/>
                </a:solidFill>
                <a:latin typeface="Microsoft YaHei"/>
              </a:defRPr>
            </a:pPr>
            <a:r>
              <a:t>地图未铺满视图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28600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57575"/>
                </a:solidFill>
                <a:latin typeface="Microsoft YaHei"/>
              </a:defRPr>
            </a:pPr>
            <a:r>
              <a:t>showEvent使用KeepAspectRatio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0" y="2286000"/>
            <a:ext cx="3931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E7D32"/>
                </a:solidFill>
                <a:latin typeface="Microsoft YaHei"/>
              </a:defRPr>
            </a:pPr>
            <a:r>
              <a:t>→ 改为KeepAspectRatioByExpanding（cover模式）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108960"/>
            <a:ext cx="10515600" cy="731520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15468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62828"/>
                </a:solidFill>
                <a:latin typeface="Microsoft YaHei"/>
              </a:defRPr>
            </a:pPr>
            <a:r>
              <a:t>QRandomGenerator歧义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315468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57575"/>
                </a:solidFill>
                <a:latin typeface="Microsoft YaHei"/>
              </a:defRPr>
            </a:pPr>
            <a:r>
              <a:t>bounded(double)在MinGW多重载匹配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3154680"/>
            <a:ext cx="3931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E7D32"/>
                </a:solidFill>
                <a:latin typeface="Microsoft YaHei"/>
              </a:defRPr>
            </a:pPr>
            <a:r>
              <a:t>→ 改用generateDouble()×范围方式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977639"/>
            <a:ext cx="10515600" cy="731520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023359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62828"/>
                </a:solidFill>
                <a:latin typeface="Microsoft YaHei"/>
              </a:defRPr>
            </a:pPr>
            <a:r>
              <a:t>NPC不会移动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4023359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57575"/>
                </a:solidFill>
                <a:latin typeface="Microsoft YaHei"/>
              </a:defRPr>
            </a:pPr>
            <a:r>
              <a:t>原实现为静止NPC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4023359"/>
            <a:ext cx="3931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E7D32"/>
                </a:solidFill>
                <a:latin typeface="Microsoft YaHei"/>
              </a:defRPr>
            </a:pPr>
            <a:r>
              <a:t>→ 重写NpcItem，添加状态机+邻接表寻路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846320"/>
            <a:ext cx="10515600" cy="731520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89204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62828"/>
                </a:solidFill>
                <a:latin typeface="Microsoft YaHei"/>
              </a:defRPr>
            </a:pPr>
            <a:r>
              <a:t>UTF-8中文编译错误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0" y="489204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57575"/>
                </a:solidFill>
                <a:latin typeface="Microsoft YaHei"/>
              </a:defRPr>
            </a:pPr>
            <a:r>
              <a:t>MinGW默认编码不匹配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0" y="4892040"/>
            <a:ext cx="3931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E7D32"/>
                </a:solidFill>
                <a:latin typeface="Microsoft YaHei"/>
              </a:defRPr>
            </a:pPr>
            <a:r>
              <a:t>→ 编译选项加-finput-charset=UTF-8 -fexec-charset=UTF-8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5715000"/>
            <a:ext cx="10515600" cy="731520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76072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62828"/>
                </a:solidFill>
                <a:latin typeface="Microsoft YaHei"/>
              </a:defRPr>
            </a:pPr>
            <a:r>
              <a:t>旧数据库格式不兼容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40480" y="576072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57575"/>
                </a:solidFill>
                <a:latin typeface="Microsoft YaHei"/>
              </a:defRPr>
            </a:pPr>
            <a:r>
              <a:t>16建筑旧版vs25建筑新版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0" y="5760720"/>
            <a:ext cx="3931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E7D32"/>
                </a:solidFill>
                <a:latin typeface="Microsoft YaHei"/>
              </a:defRPr>
            </a:pPr>
            <a:r>
              <a:t>→ init()检测旧格式自动清除并重新填充种子数据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47A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总结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3474720" cy="5029200"/>
          </a:xfrm>
          <a:prstGeom prst="roundRect">
            <a:avLst/>
          </a:prstGeom>
          <a:solidFill>
            <a:srgbClr val="1A237E"/>
          </a:solidFill>
          <a:ln w="25400">
            <a:solidFill>
              <a:srgbClr val="BBDE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BBDEFB"/>
                </a:solidFill>
                <a:latin typeface="Microsoft YaHei"/>
              </a:defRPr>
            </a:pPr>
            <a:r>
              <a:t>技术收获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0116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3F2FD"/>
                </a:solidFill>
                <a:latin typeface="Microsoft YaHei"/>
              </a:defRPr>
            </a:pPr>
            <a:r>
              <a:t>C++17新特性实战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4231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3F2FD"/>
                </a:solidFill>
                <a:latin typeface="Microsoft YaHei"/>
              </a:defRPr>
            </a:pPr>
            <a:r>
              <a:t>(结构化绑定/move/enum class)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8346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YaHe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" y="32461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3F2FD"/>
                </a:solidFill>
                <a:latin typeface="Microsoft YaHei"/>
              </a:defRPr>
            </a:pPr>
            <a:r>
              <a:t>Qt Graphics View Framework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6576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3F2FD"/>
                </a:solidFill>
                <a:latin typeface="Microsoft YaHei"/>
              </a:defRPr>
            </a:pPr>
            <a:r>
              <a:t>(信号槽/自定义绘制/定时器)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0690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YaHei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1005840" y="44805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3F2FD"/>
                </a:solidFill>
                <a:latin typeface="Microsoft YaHei"/>
              </a:defRPr>
            </a:pPr>
            <a:r>
              <a:t>图论算法落地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8920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3F2FD"/>
                </a:solidFill>
                <a:latin typeface="Microsoft YaHei"/>
              </a:defRPr>
            </a:pPr>
            <a:r>
              <a:t>(Dijkstra最短路径)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0559" y="1371600"/>
            <a:ext cx="3474720" cy="5029200"/>
          </a:xfrm>
          <a:prstGeom prst="roundRect">
            <a:avLst/>
          </a:prstGeom>
          <a:solidFill>
            <a:srgbClr val="1A237E"/>
          </a:solidFill>
          <a:ln w="25400">
            <a:solidFill>
              <a:srgbClr val="FFCC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39" y="14630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CC80"/>
                </a:solidFill>
                <a:latin typeface="Microsoft YaHei"/>
              </a:defRPr>
            </a:pPr>
            <a:r>
              <a:t>工程思维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79" y="20116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3F2FD"/>
                </a:solidFill>
                <a:latin typeface="Microsoft YaHei"/>
              </a:defRPr>
            </a:pPr>
            <a:r>
              <a:t>三层架构设计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79" y="24231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3F2FD"/>
                </a:solidFill>
                <a:latin typeface="Microsoft YaHei"/>
              </a:defRPr>
            </a:pPr>
            <a:r>
              <a:t>(Model/Data/View解耦)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79" y="28346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YaHei"/>
              </a:defRPr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4754879" y="32461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3F2FD"/>
                </a:solidFill>
                <a:latin typeface="Microsoft YaHei"/>
              </a:defRPr>
            </a:pPr>
            <a:r>
              <a:t>CMake + Ninja构建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79" y="36576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YaHei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4754879" y="40690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3F2FD"/>
                </a:solidFill>
                <a:latin typeface="Microsoft YaHei"/>
              </a:defRPr>
            </a:pPr>
            <a:r>
              <a:t>迭代开发9阶段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79" y="44805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3F2FD"/>
                </a:solidFill>
                <a:latin typeface="Microsoft YaHei"/>
              </a:defRPr>
            </a:pPr>
            <a:r>
              <a:t>(先跑通→再美化→后优化)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79" y="48920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YaHei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4754879" y="53035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3F2FD"/>
                </a:solidFill>
                <a:latin typeface="Microsoft YaHei"/>
              </a:defRPr>
            </a:pPr>
            <a:r>
              <a:t>调试与问题解决能力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0" y="1371600"/>
            <a:ext cx="3474720" cy="5029200"/>
          </a:xfrm>
          <a:prstGeom prst="roundRect">
            <a:avLst/>
          </a:prstGeom>
          <a:solidFill>
            <a:srgbClr val="1A237E"/>
          </a:solidFill>
          <a:ln w="25400"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80" y="14630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C8E6C9"/>
                </a:solidFill>
                <a:latin typeface="Microsoft YaHei"/>
              </a:defRPr>
            </a:pPr>
            <a:r>
              <a:t>功能完成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20" y="20116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3F2FD"/>
                </a:solidFill>
                <a:latin typeface="Microsoft YaHei"/>
              </a:defRPr>
            </a:pPr>
            <a:r>
              <a:t>6项基础功能 全部完成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24231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3F2FD"/>
                </a:solidFill>
                <a:latin typeface="Microsoft YaHei"/>
              </a:defRPr>
            </a:pPr>
            <a:r>
              <a:t>4项扩展功能 (要求3+)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0" y="28346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3F2FD"/>
                </a:solidFill>
                <a:latin typeface="Microsoft YaHei"/>
              </a:defRPr>
            </a:pPr>
            <a:r>
              <a:t>4项创新功能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20" y="32461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YaHei"/>
              </a:defRPr>
            </a:pPr>
          </a:p>
        </p:txBody>
      </p:sp>
      <p:sp>
        <p:nvSpPr>
          <p:cNvPr id="30" name="TextBox 29"/>
          <p:cNvSpPr txBox="1"/>
          <p:nvPr/>
        </p:nvSpPr>
        <p:spPr>
          <a:xfrm>
            <a:off x="8503920" y="36576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3F2FD"/>
                </a:solidFill>
                <a:latin typeface="Microsoft YaHei"/>
              </a:defRPr>
            </a:pPr>
            <a:r>
              <a:t>27项功能测试 全部通过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20" y="40690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3F2FD"/>
                </a:solidFill>
                <a:latin typeface="Microsoft YaHei"/>
              </a:defRPr>
            </a:pPr>
            <a:r>
              <a:t>~3540行C++17代码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03920" y="44805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3F2FD"/>
                </a:solidFill>
                <a:latin typeface="Microsoft YaHei"/>
              </a:defRPr>
            </a:pPr>
            <a:r>
              <a:t>零编译警告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47A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  <a:latin typeface="Microsoft YaHei"/>
              </a:defRPr>
            </a:pPr>
            <a:r>
              <a:t>谢谢！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6576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BBDEFB"/>
                </a:solidFill>
                <a:latin typeface="Microsoft YaHei"/>
              </a:defRPr>
            </a:pPr>
            <a:r>
              <a:t>CampusNavigator · 校园探索与智能导航模拟系统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0" y="4754880"/>
            <a:ext cx="4572000" cy="548640"/>
          </a:xfrm>
          <a:prstGeom prst="roundRect">
            <a:avLst/>
          </a:prstGeom>
          <a:solidFill>
            <a:srgbClr val="FFB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263238"/>
                </a:solidFill>
                <a:latin typeface="Microsoft YaHei"/>
              </a:defRPr>
            </a:pPr>
            <a:r>
              <a:t>敬请提问与指导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64B5F6"/>
                </a:solidFill>
              </a:defRPr>
            </a:pPr>
            <a:r>
              <a:t>核心算法 · 路网构建 · 数据存储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188720"/>
            <a:ext cx="2834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4CAF50"/>
                </a:solidFill>
              </a:defRPr>
            </a:pPr>
            <a:r>
              <a:t>① Dijkstra 最短路径算法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645920"/>
            <a:ext cx="2834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FFD54F"/>
                </a:solidFill>
              </a:defRPr>
            </a:pPr>
            <a:r>
              <a:t>数据结构:</a:t>
            </a:r>
          </a:p>
          <a:p>
            <a:pPr>
              <a:spcAft>
                <a:spcPts val="200"/>
              </a:spcAft>
              <a:defRPr sz="1100">
                <a:solidFill>
                  <a:srgbClr val="E0E0E0"/>
                </a:solidFill>
              </a:defRPr>
            </a:pPr>
            <a:r>
              <a:t>  • 邻接表 unordered_map&lt;int, vector&lt;Edge&gt;&gt;</a:t>
            </a:r>
          </a:p>
          <a:p>
            <a:pPr>
              <a:spcAft>
                <a:spcPts val="200"/>
              </a:spcAft>
              <a:defRPr sz="1100">
                <a:solidFill>
                  <a:srgbClr val="E0E0E0"/>
                </a:solidFill>
              </a:defRPr>
            </a:pPr>
            <a:r>
              <a:t>  • 最小堆 priority_queue (懒惰删除)</a:t>
            </a:r>
          </a:p>
          <a:p>
            <a:pPr>
              <a:spcAft>
                <a:spcPts val="200"/>
              </a:spcAft>
              <a:defRPr sz="1100">
                <a:solidFill>
                  <a:srgbClr val="E0E0E0"/>
                </a:solidFill>
              </a:defRPr>
            </a:pPr>
            <a:r>
              <a:t>  • dist[] 距离表 + prev[] 前驱表</a:t>
            </a:r>
          </a:p>
          <a:p>
            <a:pPr>
              <a:spcAft>
                <a:spcPts val="200"/>
              </a:spcAft>
              <a:defRPr sz="1100"/>
            </a:pPr>
          </a:p>
          <a:p>
            <a:pPr>
              <a:spcAft>
                <a:spcPts val="200"/>
              </a:spcAft>
              <a:defRPr sz="1100" b="1">
                <a:solidFill>
                  <a:srgbClr val="FFD54F"/>
                </a:solidFill>
              </a:defRPr>
            </a:pPr>
            <a:r>
              <a:t>算法流程:</a:t>
            </a:r>
          </a:p>
          <a:p>
            <a:pPr>
              <a:spcAft>
                <a:spcPts val="200"/>
              </a:spcAft>
              <a:defRPr sz="1100">
                <a:solidFill>
                  <a:srgbClr val="E0E0E0"/>
                </a:solidFill>
              </a:defRPr>
            </a:pPr>
            <a:r>
              <a:t>  1. 初始化 dist[起点]=0, 其余=∞</a:t>
            </a:r>
          </a:p>
          <a:p>
            <a:pPr>
              <a:spcAft>
                <a:spcPts val="200"/>
              </a:spcAft>
              <a:defRPr sz="1100">
                <a:solidFill>
                  <a:srgbClr val="E0E0E0"/>
                </a:solidFill>
              </a:defRPr>
            </a:pPr>
            <a:r>
              <a:t>  2. 优先队列出队距离最小节点</a:t>
            </a:r>
          </a:p>
          <a:p>
            <a:pPr>
              <a:spcAft>
                <a:spcPts val="200"/>
              </a:spcAft>
              <a:defRPr sz="1100">
                <a:solidFill>
                  <a:srgbClr val="E0E0E0"/>
                </a:solidFill>
              </a:defRPr>
            </a:pPr>
            <a:r>
              <a:t>  3. 松弛所有邻居 (更新更短距离)</a:t>
            </a:r>
          </a:p>
          <a:p>
            <a:pPr>
              <a:spcAft>
                <a:spcPts val="200"/>
              </a:spcAft>
              <a:defRPr sz="1100">
                <a:solidFill>
                  <a:srgbClr val="E0E0E0"/>
                </a:solidFill>
              </a:defRPr>
            </a:pPr>
            <a:r>
              <a:t>  4. 重复直到到达终点</a:t>
            </a:r>
          </a:p>
          <a:p>
            <a:pPr>
              <a:spcAft>
                <a:spcPts val="200"/>
              </a:spcAft>
              <a:defRPr sz="1100">
                <a:solidFill>
                  <a:srgbClr val="E0E0E0"/>
                </a:solidFill>
              </a:defRPr>
            </a:pPr>
            <a:r>
              <a:t>  5. 沿 prev[] 回溯最短路径</a:t>
            </a:r>
          </a:p>
          <a:p>
            <a:pPr>
              <a:spcAft>
                <a:spcPts val="200"/>
              </a:spcAft>
              <a:defRPr sz="1100"/>
            </a:pPr>
          </a:p>
          <a:p>
            <a:pPr>
              <a:spcAft>
                <a:spcPts val="200"/>
              </a:spcAft>
              <a:defRPr sz="1100" b="1">
                <a:solidFill>
                  <a:srgbClr val="FFAB40"/>
                </a:solidFill>
              </a:defRPr>
            </a:pPr>
            <a:r>
              <a:t>复杂度: O((V+E) log V)</a:t>
            </a:r>
          </a:p>
          <a:p>
            <a:pPr>
              <a:spcAft>
                <a:spcPts val="200"/>
              </a:spcAft>
              <a:defRPr sz="1100">
                <a:solidFill>
                  <a:srgbClr val="B0BEC5"/>
                </a:solidFill>
              </a:defRPr>
            </a:pPr>
            <a:r>
              <a:t>V=66节点, E=80有向边</a:t>
            </a:r>
          </a:p>
          <a:p>
            <a:pPr>
              <a:spcAft>
                <a:spcPts val="200"/>
              </a:spcAft>
              <a:defRPr sz="1100"/>
            </a:pPr>
          </a:p>
          <a:p>
            <a:pPr>
              <a:spcAft>
                <a:spcPts val="200"/>
              </a:spcAft>
              <a:defRPr sz="1100" b="1">
                <a:solidFill>
                  <a:srgbClr val="FFD54F"/>
                </a:solidFill>
              </a:defRPr>
            </a:pPr>
            <a:r>
              <a:t>创新: 天气感知Dijkstra</a:t>
            </a:r>
          </a:p>
          <a:p>
            <a:pPr>
              <a:spcAft>
                <a:spcPts val="200"/>
              </a:spcAft>
              <a:defRPr sz="1100">
                <a:solidFill>
                  <a:srgbClr val="E0E0E0"/>
                </a:solidFill>
              </a:defRPr>
            </a:pPr>
            <a:r>
              <a:t>  雨天→遮棚路权重×0.7</a:t>
            </a:r>
          </a:p>
          <a:p>
            <a:pPr>
              <a:spcAft>
                <a:spcPts val="200"/>
              </a:spcAft>
              <a:defRPr sz="1100">
                <a:solidFill>
                  <a:srgbClr val="E0E0E0"/>
                </a:solidFill>
              </a:defRPr>
            </a:pPr>
            <a:r>
              <a:t>  高温→树荫路权重递减</a:t>
            </a:r>
          </a:p>
          <a:p>
            <a:pPr>
              <a:spcAft>
                <a:spcPts val="200"/>
              </a:spcAft>
              <a:defRPr sz="1100">
                <a:solidFill>
                  <a:srgbClr val="E0E0E0"/>
                </a:solidFill>
              </a:defRPr>
            </a:pPr>
            <a:r>
              <a:t>  大风→临湖路权重×1.5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1188720"/>
            <a:ext cx="2834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42A5F5"/>
                </a:solidFill>
              </a:defRPr>
            </a:pPr>
            <a:r>
              <a:t>② 路网构建方式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91840" y="1645920"/>
            <a:ext cx="2834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FFD54F"/>
                </a:solidFill>
              </a:defRPr>
            </a:pPr>
            <a:r>
              <a:t>底图来源:</a:t>
            </a:r>
          </a:p>
          <a:p>
            <a:pPr>
              <a:spcAft>
                <a:spcPts val="200"/>
              </a:spcAft>
              <a:defRPr sz="1100">
                <a:solidFill>
                  <a:srgbClr val="E0E0E0"/>
                </a:solidFill>
              </a:defRPr>
            </a:pPr>
            <a:r>
              <a:t>  天津理工大学真实校园地图</a:t>
            </a:r>
          </a:p>
          <a:p>
            <a:pPr>
              <a:spcAft>
                <a:spcPts val="200"/>
              </a:spcAft>
              <a:defRPr sz="1100">
                <a:solidFill>
                  <a:srgbClr val="E0E0E0"/>
                </a:solidFill>
              </a:defRPr>
            </a:pPr>
            <a:r>
              <a:t>  tjut_map.jpg (1280×976px)</a:t>
            </a:r>
          </a:p>
          <a:p>
            <a:pPr>
              <a:spcAft>
                <a:spcPts val="200"/>
              </a:spcAft>
              <a:defRPr sz="1100"/>
            </a:pPr>
          </a:p>
          <a:p>
            <a:pPr>
              <a:spcAft>
                <a:spcPts val="200"/>
              </a:spcAft>
              <a:defRPr sz="1100" b="1">
                <a:solidFill>
                  <a:srgbClr val="FFD54F"/>
                </a:solidFill>
              </a:defRPr>
            </a:pPr>
            <a:r>
              <a:t>节点设计:</a:t>
            </a:r>
          </a:p>
          <a:p>
            <a:pPr>
              <a:spcAft>
                <a:spcPts val="200"/>
              </a:spcAft>
              <a:defRPr sz="1100">
                <a:solidFill>
                  <a:srgbClr val="E0E0E0"/>
                </a:solidFill>
              </a:defRPr>
            </a:pPr>
            <a:r>
              <a:t>  • 45栋建筑 (id 0-44)</a:t>
            </a:r>
          </a:p>
          <a:p>
            <a:pPr>
              <a:spcAft>
                <a:spcPts val="200"/>
              </a:spcAft>
              <a:defRPr sz="1100">
                <a:solidFill>
                  <a:srgbClr val="B0BEC5"/>
                </a:solidFill>
              </a:defRPr>
            </a:pPr>
            <a:r>
              <a:t>    nodeKind=1, 显示标签</a:t>
            </a:r>
          </a:p>
          <a:p>
            <a:pPr>
              <a:spcAft>
                <a:spcPts val="200"/>
              </a:spcAft>
              <a:defRPr sz="1100">
                <a:solidFill>
                  <a:srgbClr val="E0E0E0"/>
                </a:solidFill>
              </a:defRPr>
            </a:pPr>
            <a:r>
              <a:t>  • 21个路口节点 (id 100-120)</a:t>
            </a:r>
          </a:p>
          <a:p>
            <a:pPr>
              <a:spcAft>
                <a:spcPts val="200"/>
              </a:spcAft>
              <a:defRPr sz="1100">
                <a:solidFill>
                  <a:srgbClr val="B0BEC5"/>
                </a:solidFill>
              </a:defRPr>
            </a:pPr>
            <a:r>
              <a:t>    nodeKind=0, 仅参与寻路</a:t>
            </a:r>
          </a:p>
          <a:p>
            <a:pPr>
              <a:spcAft>
                <a:spcPts val="200"/>
              </a:spcAft>
              <a:defRPr sz="1100">
                <a:solidFill>
                  <a:srgbClr val="FFAB40"/>
                </a:solidFill>
              </a:defRPr>
            </a:pPr>
            <a:r>
              <a:t>  共66个节点</a:t>
            </a:r>
          </a:p>
          <a:p>
            <a:pPr>
              <a:spcAft>
                <a:spcPts val="200"/>
              </a:spcAft>
              <a:defRPr sz="1100"/>
            </a:pPr>
          </a:p>
          <a:p>
            <a:pPr>
              <a:spcAft>
                <a:spcPts val="200"/>
              </a:spcAft>
              <a:defRPr sz="1100" b="1">
                <a:solidFill>
                  <a:srgbClr val="FFD54F"/>
                </a:solidFill>
              </a:defRPr>
            </a:pPr>
            <a:r>
              <a:t>道路布局:</a:t>
            </a:r>
          </a:p>
          <a:p>
            <a:pPr>
              <a:spcAft>
                <a:spcPts val="200"/>
              </a:spcAft>
              <a:defRPr sz="1100">
                <a:solidFill>
                  <a:srgbClr val="E0E0E0"/>
                </a:solidFill>
              </a:defRPr>
            </a:pPr>
            <a:r>
              <a:t>  • 大成路 x≈640 南北主干道</a:t>
            </a:r>
          </a:p>
          <a:p>
            <a:pPr>
              <a:spcAft>
                <a:spcPts val="200"/>
              </a:spcAft>
              <a:defRPr sz="1100">
                <a:solidFill>
                  <a:srgbClr val="E0E0E0"/>
                </a:solidFill>
              </a:defRPr>
            </a:pPr>
            <a:r>
              <a:t>  • 知行道 y≈850 东西主干道</a:t>
            </a:r>
          </a:p>
          <a:p>
            <a:pPr>
              <a:spcAft>
                <a:spcPts val="200"/>
              </a:spcAft>
              <a:defRPr sz="1100">
                <a:solidFill>
                  <a:srgbClr val="E0E0E0"/>
                </a:solidFill>
              </a:defRPr>
            </a:pPr>
            <a:r>
              <a:t>  • 横向道路 y=440, y=660</a:t>
            </a:r>
          </a:p>
          <a:p>
            <a:pPr>
              <a:spcAft>
                <a:spcPts val="200"/>
              </a:spcAft>
              <a:defRPr sz="1100">
                <a:solidFill>
                  <a:srgbClr val="E0E0E0"/>
                </a:solidFill>
              </a:defRPr>
            </a:pPr>
            <a:r>
              <a:t>  • 40条无向道路 (双向加边)</a:t>
            </a:r>
          </a:p>
          <a:p>
            <a:pPr>
              <a:spcAft>
                <a:spcPts val="200"/>
              </a:spcAft>
              <a:defRPr sz="1100"/>
            </a:pPr>
          </a:p>
          <a:p>
            <a:pPr>
              <a:spcAft>
                <a:spcPts val="200"/>
              </a:spcAft>
              <a:defRPr sz="1100" b="1">
                <a:solidFill>
                  <a:srgbClr val="FFD54F"/>
                </a:solidFill>
              </a:defRPr>
            </a:pPr>
            <a:r>
              <a:t>边权重计算:</a:t>
            </a:r>
          </a:p>
          <a:p>
            <a:pPr>
              <a:spcAft>
                <a:spcPts val="200"/>
              </a:spcAft>
              <a:defRPr sz="1100">
                <a:solidFill>
                  <a:srgbClr val="CE93D8"/>
                </a:solidFill>
              </a:defRPr>
            </a:pPr>
            <a:r>
              <a:t>  weight = √(dx² + dy²)</a:t>
            </a:r>
          </a:p>
          <a:p>
            <a:pPr>
              <a:spcAft>
                <a:spcPts val="200"/>
              </a:spcAft>
              <a:defRPr sz="1100">
                <a:solidFill>
                  <a:srgbClr val="B0BEC5"/>
                </a:solidFill>
              </a:defRPr>
            </a:pPr>
            <a:r>
              <a:t>  (两端坐标欧氏距离)</a:t>
            </a:r>
          </a:p>
          <a:p>
            <a:pPr>
              <a:spcAft>
                <a:spcPts val="200"/>
              </a:spcAft>
              <a:defRPr sz="1100"/>
            </a:pPr>
          </a:p>
          <a:p>
            <a:pPr>
              <a:spcAft>
                <a:spcPts val="200"/>
              </a:spcAft>
              <a:defRPr sz="1100" b="1">
                <a:solidFill>
                  <a:srgbClr val="FFD54F"/>
                </a:solidFill>
              </a:defRPr>
            </a:pPr>
            <a:r>
              <a:t>天气标签:</a:t>
            </a:r>
          </a:p>
          <a:p>
            <a:pPr>
              <a:spcAft>
                <a:spcPts val="200"/>
              </a:spcAft>
              <a:defRPr sz="1100">
                <a:solidFill>
                  <a:srgbClr val="E0E0E0"/>
                </a:solidFill>
              </a:defRPr>
            </a:pPr>
            <a:r>
              <a:t>  shelter/tree/lake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188720"/>
            <a:ext cx="2834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7043"/>
                </a:solidFill>
              </a:defRPr>
            </a:pPr>
            <a:r>
              <a:t>③ 数据存储方案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645920"/>
            <a:ext cx="2834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FFD54F"/>
                </a:solidFill>
              </a:defRPr>
            </a:pPr>
            <a:r>
              <a:t>双层架构:</a:t>
            </a:r>
          </a:p>
          <a:p>
            <a:pPr>
              <a:spcAft>
                <a:spcPts val="200"/>
              </a:spcAft>
              <a:defRPr sz="1100">
                <a:solidFill>
                  <a:srgbClr val="E0E0E0"/>
                </a:solidFill>
              </a:defRPr>
            </a:pPr>
            <a:r>
              <a:t>  内存层: STL邻接表 (O(V+E))</a:t>
            </a:r>
          </a:p>
          <a:p>
            <a:pPr>
              <a:spcAft>
                <a:spcPts val="200"/>
              </a:spcAft>
              <a:defRPr sz="1100">
                <a:solidFill>
                  <a:srgbClr val="E0E0E0"/>
                </a:solidFill>
              </a:defRPr>
            </a:pPr>
            <a:r>
              <a:t>  持久层: SQLite 3 数据库</a:t>
            </a:r>
          </a:p>
          <a:p>
            <a:pPr>
              <a:spcAft>
                <a:spcPts val="200"/>
              </a:spcAft>
              <a:defRPr sz="1100"/>
            </a:pPr>
          </a:p>
          <a:p>
            <a:pPr>
              <a:spcAft>
                <a:spcPts val="200"/>
              </a:spcAft>
              <a:defRPr sz="1100" b="1">
                <a:solidFill>
                  <a:srgbClr val="FFD54F"/>
                </a:solidFill>
              </a:defRPr>
            </a:pPr>
            <a:r>
              <a:t>SQLite表结构:</a:t>
            </a:r>
          </a:p>
          <a:p>
            <a:pPr>
              <a:spcAft>
                <a:spcPts val="200"/>
              </a:spcAft>
              <a:defRPr sz="1100">
                <a:solidFill>
                  <a:srgbClr val="E0E0E0"/>
                </a:solidFill>
              </a:defRPr>
            </a:pPr>
            <a:r>
              <a:t>  buildings表 (9字段):</a:t>
            </a:r>
          </a:p>
          <a:p>
            <a:pPr>
              <a:spcAft>
                <a:spcPts val="200"/>
              </a:spcAft>
              <a:defRPr sz="1100">
                <a:solidFill>
                  <a:srgbClr val="CE93D8"/>
                </a:solidFill>
              </a:defRPr>
            </a:pPr>
            <a:r>
              <a:t>   id|name|x|y|type|info</a:t>
            </a:r>
          </a:p>
          <a:p>
            <a:pPr>
              <a:spcAft>
                <a:spcPts val="200"/>
              </a:spcAft>
              <a:defRPr sz="1100">
                <a:solidFill>
                  <a:srgbClr val="CE93D8"/>
                </a:solidFill>
              </a:defRPr>
            </a:pPr>
            <a:r>
              <a:t>   |hours|floors|nodeKind</a:t>
            </a:r>
          </a:p>
          <a:p>
            <a:pPr>
              <a:spcAft>
                <a:spcPts val="200"/>
              </a:spcAft>
              <a:defRPr sz="1100">
                <a:solidFill>
                  <a:srgbClr val="E0E0E0"/>
                </a:solidFill>
              </a:defRPr>
            </a:pPr>
            <a:r>
              <a:t>  roads表 (3字段):</a:t>
            </a:r>
          </a:p>
          <a:p>
            <a:pPr>
              <a:spcAft>
                <a:spcPts val="200"/>
              </a:spcAft>
              <a:defRPr sz="1100">
                <a:solidFill>
                  <a:srgbClr val="CE93D8"/>
                </a:solidFill>
              </a:defRPr>
            </a:pPr>
            <a:r>
              <a:t>   from_id|to_id|weight</a:t>
            </a:r>
          </a:p>
          <a:p>
            <a:pPr>
              <a:spcAft>
                <a:spcPts val="200"/>
              </a:spcAft>
              <a:defRPr sz="1100"/>
            </a:pPr>
          </a:p>
          <a:p>
            <a:pPr>
              <a:spcAft>
                <a:spcPts val="200"/>
              </a:spcAft>
              <a:defRPr sz="1100" b="1">
                <a:solidFill>
                  <a:srgbClr val="FFD54F"/>
                </a:solidFill>
              </a:defRPr>
            </a:pPr>
            <a:r>
              <a:t>DatabaseManager:</a:t>
            </a:r>
          </a:p>
          <a:p>
            <a:pPr>
              <a:spcAft>
                <a:spcPts val="200"/>
              </a:spcAft>
              <a:defRPr sz="1100">
                <a:solidFill>
                  <a:srgbClr val="E0E0E0"/>
                </a:solidFill>
              </a:defRPr>
            </a:pPr>
            <a:r>
              <a:t>  • 单例模式 (全局唯一实例)</a:t>
            </a:r>
          </a:p>
          <a:p>
            <a:pPr>
              <a:spcAft>
                <a:spcPts val="200"/>
              </a:spcAft>
              <a:defRPr sz="1100">
                <a:solidFill>
                  <a:srgbClr val="E0E0E0"/>
                </a:solidFill>
              </a:defRPr>
            </a:pPr>
            <a:r>
              <a:t>  • QSqlQuery预处理语句</a:t>
            </a:r>
          </a:p>
          <a:p>
            <a:pPr>
              <a:spcAft>
                <a:spcPts val="200"/>
              </a:spcAft>
              <a:defRPr sz="1100">
                <a:solidFill>
                  <a:srgbClr val="E0E0E0"/>
                </a:solidFill>
              </a:defRPr>
            </a:pPr>
            <a:r>
              <a:t>  • 防SQL注入</a:t>
            </a:r>
          </a:p>
          <a:p>
            <a:pPr>
              <a:spcAft>
                <a:spcPts val="200"/>
              </a:spcAft>
              <a:defRPr sz="1100">
                <a:solidFill>
                  <a:srgbClr val="E0E0E0"/>
                </a:solidFill>
              </a:defRPr>
            </a:pPr>
            <a:r>
              <a:t>  • 完整CRUD接口</a:t>
            </a:r>
          </a:p>
          <a:p>
            <a:pPr>
              <a:spcAft>
                <a:spcPts val="200"/>
              </a:spcAft>
              <a:defRPr sz="1100"/>
            </a:pPr>
          </a:p>
          <a:p>
            <a:pPr>
              <a:spcAft>
                <a:spcPts val="200"/>
              </a:spcAft>
              <a:defRPr sz="1100" b="1">
                <a:solidFill>
                  <a:srgbClr val="FFD54F"/>
                </a:solidFill>
              </a:defRPr>
            </a:pPr>
            <a:r>
              <a:t>数据加载流程:</a:t>
            </a:r>
          </a:p>
          <a:p>
            <a:pPr>
              <a:spcAft>
                <a:spcPts val="200"/>
              </a:spcAft>
              <a:defRPr sz="1100">
                <a:solidFill>
                  <a:srgbClr val="E0E0E0"/>
                </a:solidFill>
              </a:defRPr>
            </a:pPr>
            <a:r>
              <a:t>  启动→init()→建表</a:t>
            </a:r>
          </a:p>
          <a:p>
            <a:pPr>
              <a:spcAft>
                <a:spcPts val="200"/>
              </a:spcAft>
              <a:defRPr sz="1100">
                <a:solidFill>
                  <a:srgbClr val="E0E0E0"/>
                </a:solidFill>
              </a:defRPr>
            </a:pPr>
            <a:r>
              <a:t>  →空则seedData()</a:t>
            </a:r>
          </a:p>
          <a:p>
            <a:pPr>
              <a:spcAft>
                <a:spcPts val="200"/>
              </a:spcAft>
              <a:defRPr sz="1100">
                <a:solidFill>
                  <a:srgbClr val="E0E0E0"/>
                </a:solidFill>
              </a:defRPr>
            </a:pPr>
            <a:r>
              <a:t>  →loadAll→Graph邻接表</a:t>
            </a:r>
          </a:p>
          <a:p>
            <a:pPr>
              <a:spcAft>
                <a:spcPts val="200"/>
              </a:spcAft>
              <a:defRPr sz="1100">
                <a:solidFill>
                  <a:srgbClr val="E0E0E0"/>
                </a:solidFill>
              </a:defRPr>
            </a:pPr>
            <a:r>
              <a:t>  →MapScene渲染</a:t>
            </a:r>
          </a:p>
        </p:txBody>
      </p:sp>
      <p:pic>
        <p:nvPicPr>
          <p:cNvPr id="9" name="Picture 8" descr="road_network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035040"/>
            <a:ext cx="8229600" cy="548811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